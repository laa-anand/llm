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477" r:id="rId3"/>
    <p:sldId id="478" r:id="rId4"/>
    <p:sldId id="488" r:id="rId5"/>
    <p:sldId id="489" r:id="rId6"/>
    <p:sldId id="490" r:id="rId7"/>
    <p:sldId id="491" r:id="rId8"/>
    <p:sldId id="492" r:id="rId9"/>
    <p:sldId id="493" r:id="rId10"/>
    <p:sldId id="494" r:id="rId11"/>
    <p:sldId id="495" r:id="rId12"/>
    <p:sldId id="496" r:id="rId13"/>
    <p:sldId id="497" r:id="rId14"/>
    <p:sldId id="432" r:id="rId15"/>
    <p:sldId id="459" r:id="rId16"/>
    <p:sldId id="423" r:id="rId17"/>
    <p:sldId id="424" r:id="rId18"/>
    <p:sldId id="425" r:id="rId19"/>
    <p:sldId id="433" r:id="rId20"/>
    <p:sldId id="430" r:id="rId21"/>
    <p:sldId id="479" r:id="rId22"/>
    <p:sldId id="480" r:id="rId23"/>
    <p:sldId id="481" r:id="rId24"/>
    <p:sldId id="483" r:id="rId25"/>
    <p:sldId id="482" r:id="rId26"/>
    <p:sldId id="484" r:id="rId27"/>
    <p:sldId id="486" r:id="rId28"/>
    <p:sldId id="487" r:id="rId29"/>
    <p:sldId id="460" r:id="rId30"/>
    <p:sldId id="461" r:id="rId31"/>
    <p:sldId id="462" r:id="rId32"/>
    <p:sldId id="463" r:id="rId33"/>
    <p:sldId id="466" r:id="rId34"/>
    <p:sldId id="467" r:id="rId35"/>
    <p:sldId id="470" r:id="rId36"/>
    <p:sldId id="485" r:id="rId37"/>
    <p:sldId id="31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02C0"/>
    <a:srgbClr val="D300F6"/>
    <a:srgbClr val="F2A3FF"/>
    <a:srgbClr val="2597FF"/>
    <a:srgbClr val="FF9E1D"/>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p:cViewPr varScale="1">
        <p:scale>
          <a:sx n="101" d="100"/>
          <a:sy n="101" d="100"/>
        </p:scale>
        <p:origin x="960" y="90"/>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90A830-73C8-4C23-B7DE-AC819120913E}" type="datetimeFigureOut">
              <a:rPr lang="en-IN" smtClean="0"/>
              <a:t>28-10-2026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D432F1-04E8-45A3-80D4-1FD47612AA55}" type="slidenum">
              <a:rPr lang="en-IN" smtClean="0"/>
              <a:t>‹#›</a:t>
            </a:fld>
            <a:endParaRPr lang="en-IN"/>
          </a:p>
        </p:txBody>
      </p:sp>
    </p:spTree>
    <p:extLst>
      <p:ext uri="{BB962C8B-B14F-4D97-AF65-F5344CB8AC3E}">
        <p14:creationId xmlns:p14="http://schemas.microsoft.com/office/powerpoint/2010/main" val="369065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1670" y="4956050"/>
            <a:ext cx="8246070" cy="1317320"/>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907080" y="3581705"/>
            <a:ext cx="7940660" cy="1068935"/>
          </a:xfrm>
        </p:spPr>
        <p:txBody>
          <a:bodyPr>
            <a:normAutofit/>
          </a:bodyPr>
          <a:lstStyle>
            <a:lvl1pPr marL="0" indent="0" algn="r">
              <a:buNone/>
              <a:defRPr sz="2800">
                <a:solidFill>
                  <a:srgbClr val="F2A3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p>
          <a:p>
            <a:r>
              <a:rPr lang="en-US" dirty="0"/>
              <a:t>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596540"/>
            <a:ext cx="8229600" cy="458115"/>
          </a:xfrm>
        </p:spPr>
        <p:txBody>
          <a:bodyPr>
            <a:normAutofit/>
          </a:bodyPr>
          <a:lstStyle>
            <a:lvl1pPr algn="l">
              <a:defRPr sz="3600">
                <a:solidFill>
                  <a:srgbClr val="F402C0"/>
                </a:solidFill>
              </a:defRPr>
            </a:lvl1pPr>
          </a:lstStyle>
          <a:p>
            <a:r>
              <a:rPr lang="en-US" dirty="0"/>
              <a:t>Click to edit Master title style</a:t>
            </a:r>
          </a:p>
        </p:txBody>
      </p:sp>
      <p:sp>
        <p:nvSpPr>
          <p:cNvPr id="3" name="Content Placeholder 2"/>
          <p:cNvSpPr>
            <a:spLocks noGrp="1"/>
          </p:cNvSpPr>
          <p:nvPr>
            <p:ph idx="1"/>
          </p:nvPr>
        </p:nvSpPr>
        <p:spPr>
          <a:xfrm>
            <a:off x="448965" y="2054655"/>
            <a:ext cx="8229600" cy="3918803"/>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17899" y="1443836"/>
            <a:ext cx="6871725" cy="610820"/>
          </a:xfrm>
        </p:spPr>
        <p:txBody>
          <a:bodyPr>
            <a:normAutofit/>
          </a:bodyPr>
          <a:lstStyle>
            <a:lvl1pPr algn="l">
              <a:defRPr sz="3600">
                <a:solidFill>
                  <a:srgbClr val="F402C0"/>
                </a:solidFill>
              </a:defRPr>
            </a:lvl1pPr>
          </a:lstStyle>
          <a:p>
            <a:r>
              <a:rPr lang="en-US" dirty="0"/>
              <a:t>Click to edit Master title style</a:t>
            </a:r>
          </a:p>
        </p:txBody>
      </p:sp>
      <p:sp>
        <p:nvSpPr>
          <p:cNvPr id="3" name="Content Placeholder 2"/>
          <p:cNvSpPr>
            <a:spLocks noGrp="1"/>
          </p:cNvSpPr>
          <p:nvPr>
            <p:ph idx="1"/>
          </p:nvPr>
        </p:nvSpPr>
        <p:spPr>
          <a:xfrm>
            <a:off x="1517900" y="2054655"/>
            <a:ext cx="6871725" cy="4275740"/>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833014"/>
            <a:ext cx="8229600" cy="584623"/>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5" y="1596539"/>
            <a:ext cx="8229600" cy="458116"/>
          </a:xfrm>
        </p:spPr>
        <p:txBody>
          <a:bodyPr>
            <a:normAutofit/>
          </a:bodyPr>
          <a:lstStyle>
            <a:lvl1pPr algn="l">
              <a:defRPr sz="3600">
                <a:solidFill>
                  <a:srgbClr val="F402C0"/>
                </a:solidFill>
              </a:defRPr>
            </a:lvl1pPr>
          </a:lstStyle>
          <a:p>
            <a:r>
              <a:rPr lang="en-US" dirty="0"/>
              <a:t>Click to edit Master title style</a:t>
            </a:r>
          </a:p>
        </p:txBody>
      </p:sp>
      <p:sp>
        <p:nvSpPr>
          <p:cNvPr id="3" name="Text Placeholder 2"/>
          <p:cNvSpPr>
            <a:spLocks noGrp="1"/>
          </p:cNvSpPr>
          <p:nvPr>
            <p:ph type="body" idx="1"/>
          </p:nvPr>
        </p:nvSpPr>
        <p:spPr>
          <a:xfrm>
            <a:off x="448965" y="2054654"/>
            <a:ext cx="4040188" cy="639762"/>
          </a:xfrm>
        </p:spPr>
        <p:txBody>
          <a:bodyPr anchor="b"/>
          <a:lstStyle>
            <a:lvl1pPr marL="0" indent="0">
              <a:buNone/>
              <a:defRPr sz="2400" b="1">
                <a:solidFill>
                  <a:srgbClr val="F402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48965" y="2684517"/>
            <a:ext cx="4040188" cy="303505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36790" y="2054654"/>
            <a:ext cx="4041775" cy="639762"/>
          </a:xfrm>
        </p:spPr>
        <p:txBody>
          <a:bodyPr anchor="b"/>
          <a:lstStyle>
            <a:lvl1pPr marL="0" indent="0">
              <a:buNone/>
              <a:defRPr sz="2400" b="1">
                <a:solidFill>
                  <a:srgbClr val="F402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36790" y="2684517"/>
            <a:ext cx="4041775" cy="303505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mailto:Dranand.scs@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7504" y="0"/>
            <a:ext cx="8784976" cy="1317320"/>
          </a:xfrm>
        </p:spPr>
        <p:txBody>
          <a:bodyPr>
            <a:normAutofit/>
          </a:bodyPr>
          <a:lstStyle/>
          <a:p>
            <a:pPr algn="ctr"/>
            <a:r>
              <a:rPr lang="en-US" sz="4000" b="1" dirty="0">
                <a:solidFill>
                  <a:srgbClr val="002060"/>
                </a:solidFill>
              </a:rPr>
              <a:t>Large Language Models (LLMs) </a:t>
            </a:r>
            <a:r>
              <a:rPr lang="en-US" sz="4000" b="1" dirty="0" smtClean="0">
                <a:solidFill>
                  <a:srgbClr val="002060"/>
                </a:solidFill>
              </a:rPr>
              <a:t>&amp; </a:t>
            </a:r>
            <a:r>
              <a:rPr lang="en-US" sz="4000" b="1" dirty="0" err="1" smtClean="0">
                <a:solidFill>
                  <a:srgbClr val="002060"/>
                </a:solidFill>
              </a:rPr>
              <a:t>Agentic</a:t>
            </a:r>
            <a:r>
              <a:rPr lang="en-US" sz="4000" b="1" dirty="0" smtClean="0">
                <a:solidFill>
                  <a:srgbClr val="002060"/>
                </a:solidFill>
              </a:rPr>
              <a:t> AI Workflows</a:t>
            </a:r>
            <a:endParaRPr lang="en-US" sz="4000" b="1" dirty="0">
              <a:solidFill>
                <a:srgbClr val="002060"/>
              </a:solidFill>
            </a:endParaRPr>
          </a:p>
        </p:txBody>
      </p:sp>
      <p:sp>
        <p:nvSpPr>
          <p:cNvPr id="3" name="Subtitle 2"/>
          <p:cNvSpPr>
            <a:spLocks noGrp="1"/>
          </p:cNvSpPr>
          <p:nvPr>
            <p:ph type="subTitle" idx="1"/>
          </p:nvPr>
        </p:nvSpPr>
        <p:spPr>
          <a:xfrm>
            <a:off x="1209812" y="4869160"/>
            <a:ext cx="7940660" cy="1854753"/>
          </a:xfrm>
        </p:spPr>
        <p:txBody>
          <a:bodyPr>
            <a:normAutofit lnSpcReduction="10000"/>
          </a:bodyPr>
          <a:lstStyle/>
          <a:p>
            <a:endParaRPr lang="en-US" sz="2400" dirty="0"/>
          </a:p>
          <a:p>
            <a:endParaRPr lang="en-US" sz="4000" dirty="0"/>
          </a:p>
          <a:p>
            <a:r>
              <a:rPr lang="en-US" sz="4000" dirty="0"/>
              <a:t>Dr.S.Mahesh Anand</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 xmlns:a16="http://schemas.microsoft.com/office/drawing/2014/main" id="{BE5C2E59-E7EC-0413-5F5D-7F2D0B2ED217}"/>
              </a:ext>
            </a:extLst>
          </p:cNvPr>
          <p:cNvSpPr>
            <a:spLocks noGrp="1"/>
          </p:cNvSpPr>
          <p:nvPr>
            <p:ph type="subTitle" idx="1"/>
          </p:nvPr>
        </p:nvSpPr>
        <p:spPr>
          <a:xfrm>
            <a:off x="237886" y="3140968"/>
            <a:ext cx="8668228" cy="2445776"/>
          </a:xfrm>
        </p:spPr>
        <p:txBody>
          <a:bodyPr>
            <a:normAutofit/>
          </a:bodyPr>
          <a:lstStyle/>
          <a:p>
            <a:pPr algn="ctr"/>
            <a:r>
              <a:rPr lang="en-US" sz="4000" dirty="0">
                <a:solidFill>
                  <a:srgbClr val="002060"/>
                </a:solidFill>
              </a:rPr>
              <a:t>How Transformer Changed the Landscape of Artificial Intelligence?</a:t>
            </a:r>
            <a:endParaRPr lang="en-IN" sz="4000" dirty="0">
              <a:solidFill>
                <a:srgbClr val="002060"/>
              </a:solidFill>
            </a:endParaRPr>
          </a:p>
        </p:txBody>
      </p:sp>
    </p:spTree>
    <p:extLst>
      <p:ext uri="{BB962C8B-B14F-4D97-AF65-F5344CB8AC3E}">
        <p14:creationId xmlns:p14="http://schemas.microsoft.com/office/powerpoint/2010/main" val="542557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 xmlns:a16="http://schemas.microsoft.com/office/drawing/2014/main" id="{B4E0D54F-82AC-23AA-B03E-6071D8D10E2F}"/>
              </a:ext>
            </a:extLst>
          </p:cNvPr>
          <p:cNvSpPr>
            <a:spLocks noGrp="1"/>
          </p:cNvSpPr>
          <p:nvPr>
            <p:ph type="subTitle" idx="1"/>
          </p:nvPr>
        </p:nvSpPr>
        <p:spPr/>
        <p:txBody>
          <a:bodyPr>
            <a:normAutofit fontScale="92500" lnSpcReduction="20000"/>
          </a:bodyPr>
          <a:lstStyle/>
          <a:p>
            <a:pPr algn="l"/>
            <a:r>
              <a:rPr lang="en-US" dirty="0">
                <a:solidFill>
                  <a:srgbClr val="002060"/>
                </a:solidFill>
              </a:rPr>
              <a:t>A. Vaswani et al., "Attention is all you need," in </a:t>
            </a:r>
            <a:r>
              <a:rPr lang="en-US" i="1" dirty="0">
                <a:solidFill>
                  <a:srgbClr val="002060"/>
                </a:solidFill>
              </a:rPr>
              <a:t>Advances in Neural Information Processing Systems</a:t>
            </a:r>
            <a:r>
              <a:rPr lang="en-US" dirty="0">
                <a:solidFill>
                  <a:srgbClr val="002060"/>
                </a:solidFill>
              </a:rPr>
              <a:t>, 2017, pp. 5998–6008.</a:t>
            </a:r>
            <a:endParaRPr lang="en-IN" dirty="0">
              <a:solidFill>
                <a:srgbClr val="002060"/>
              </a:solidFill>
            </a:endParaRPr>
          </a:p>
        </p:txBody>
      </p:sp>
    </p:spTree>
    <p:extLst>
      <p:ext uri="{BB962C8B-B14F-4D97-AF65-F5344CB8AC3E}">
        <p14:creationId xmlns:p14="http://schemas.microsoft.com/office/powerpoint/2010/main" val="702731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3568" y="1484784"/>
            <a:ext cx="7905750" cy="4800600"/>
          </a:xfrm>
          <a:prstGeom prst="rect">
            <a:avLst/>
          </a:prstGeom>
        </p:spPr>
      </p:pic>
    </p:spTree>
    <p:extLst>
      <p:ext uri="{BB962C8B-B14F-4D97-AF65-F5344CB8AC3E}">
        <p14:creationId xmlns:p14="http://schemas.microsoft.com/office/powerpoint/2010/main" val="1525828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71600" y="1556792"/>
            <a:ext cx="7505835" cy="2520279"/>
          </a:xfrm>
          <a:prstGeom prst="rect">
            <a:avLst/>
          </a:prstGeom>
        </p:spPr>
      </p:pic>
      <p:pic>
        <p:nvPicPr>
          <p:cNvPr id="3" name="Picture 2"/>
          <p:cNvPicPr>
            <a:picLocks noChangeAspect="1"/>
          </p:cNvPicPr>
          <p:nvPr/>
        </p:nvPicPr>
        <p:blipFill>
          <a:blip r:embed="rId3"/>
          <a:stretch>
            <a:fillRect/>
          </a:stretch>
        </p:blipFill>
        <p:spPr>
          <a:xfrm>
            <a:off x="987840" y="4126243"/>
            <a:ext cx="7076930" cy="2263939"/>
          </a:xfrm>
          <a:prstGeom prst="rect">
            <a:avLst/>
          </a:prstGeom>
        </p:spPr>
      </p:pic>
    </p:spTree>
    <p:extLst>
      <p:ext uri="{BB962C8B-B14F-4D97-AF65-F5344CB8AC3E}">
        <p14:creationId xmlns:p14="http://schemas.microsoft.com/office/powerpoint/2010/main" val="78950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9552" y="1556792"/>
            <a:ext cx="7658100" cy="2520280"/>
          </a:xfrm>
          <a:prstGeom prst="rect">
            <a:avLst/>
          </a:prstGeom>
        </p:spPr>
      </p:pic>
      <p:pic>
        <p:nvPicPr>
          <p:cNvPr id="3" name="Picture 2"/>
          <p:cNvPicPr>
            <a:picLocks noChangeAspect="1"/>
          </p:cNvPicPr>
          <p:nvPr/>
        </p:nvPicPr>
        <p:blipFill>
          <a:blip r:embed="rId3"/>
          <a:stretch>
            <a:fillRect/>
          </a:stretch>
        </p:blipFill>
        <p:spPr>
          <a:xfrm>
            <a:off x="666614" y="4072574"/>
            <a:ext cx="7403976" cy="2376264"/>
          </a:xfrm>
          <a:prstGeom prst="rect">
            <a:avLst/>
          </a:prstGeom>
        </p:spPr>
      </p:pic>
    </p:spTree>
    <p:extLst>
      <p:ext uri="{BB962C8B-B14F-4D97-AF65-F5344CB8AC3E}">
        <p14:creationId xmlns:p14="http://schemas.microsoft.com/office/powerpoint/2010/main" val="3443465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7365" y="1517656"/>
            <a:ext cx="7562850" cy="2489250"/>
          </a:xfrm>
          <a:prstGeom prst="rect">
            <a:avLst/>
          </a:prstGeom>
        </p:spPr>
      </p:pic>
      <p:pic>
        <p:nvPicPr>
          <p:cNvPr id="3" name="Picture 2"/>
          <p:cNvPicPr>
            <a:picLocks noChangeAspect="1"/>
          </p:cNvPicPr>
          <p:nvPr/>
        </p:nvPicPr>
        <p:blipFill>
          <a:blip r:embed="rId3"/>
          <a:stretch>
            <a:fillRect/>
          </a:stretch>
        </p:blipFill>
        <p:spPr>
          <a:xfrm>
            <a:off x="817365" y="4006906"/>
            <a:ext cx="7505700" cy="2573703"/>
          </a:xfrm>
          <a:prstGeom prst="rect">
            <a:avLst/>
          </a:prstGeom>
        </p:spPr>
      </p:pic>
    </p:spTree>
    <p:extLst>
      <p:ext uri="{BB962C8B-B14F-4D97-AF65-F5344CB8AC3E}">
        <p14:creationId xmlns:p14="http://schemas.microsoft.com/office/powerpoint/2010/main" val="3050342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2572" y="1412776"/>
            <a:ext cx="7334250" cy="2592288"/>
          </a:xfrm>
          <a:prstGeom prst="rect">
            <a:avLst/>
          </a:prstGeom>
        </p:spPr>
      </p:pic>
      <p:pic>
        <p:nvPicPr>
          <p:cNvPr id="3" name="Picture 2"/>
          <p:cNvPicPr>
            <a:picLocks noChangeAspect="1"/>
          </p:cNvPicPr>
          <p:nvPr/>
        </p:nvPicPr>
        <p:blipFill>
          <a:blip r:embed="rId3"/>
          <a:stretch>
            <a:fillRect/>
          </a:stretch>
        </p:blipFill>
        <p:spPr>
          <a:xfrm>
            <a:off x="829234" y="4077072"/>
            <a:ext cx="7400925" cy="2594595"/>
          </a:xfrm>
          <a:prstGeom prst="rect">
            <a:avLst/>
          </a:prstGeom>
        </p:spPr>
      </p:pic>
    </p:spTree>
    <p:extLst>
      <p:ext uri="{BB962C8B-B14F-4D97-AF65-F5344CB8AC3E}">
        <p14:creationId xmlns:p14="http://schemas.microsoft.com/office/powerpoint/2010/main" val="2519042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8965" y="1596540"/>
            <a:ext cx="8229600" cy="824348"/>
          </a:xfrm>
        </p:spPr>
        <p:txBody>
          <a:bodyPr>
            <a:noAutofit/>
          </a:bodyPr>
          <a:lstStyle/>
          <a:p>
            <a:r>
              <a:rPr lang="en-US" sz="2400" dirty="0">
                <a:solidFill>
                  <a:srgbClr val="0070C0"/>
                </a:solidFill>
              </a:rPr>
              <a:t>How can an organization that leads in foundational research lose the first-mover advantage in commercializing that research and subsequently recover?</a:t>
            </a:r>
            <a:endParaRPr lang="en-IN" sz="2400" dirty="0">
              <a:solidFill>
                <a:srgbClr val="0070C0"/>
              </a:solidFill>
            </a:endParaRPr>
          </a:p>
        </p:txBody>
      </p:sp>
      <p:sp>
        <p:nvSpPr>
          <p:cNvPr id="7" name="Content Placeholder 6"/>
          <p:cNvSpPr>
            <a:spLocks noGrp="1"/>
          </p:cNvSpPr>
          <p:nvPr>
            <p:ph idx="1"/>
          </p:nvPr>
        </p:nvSpPr>
        <p:spPr>
          <a:xfrm>
            <a:off x="431696" y="2708921"/>
            <a:ext cx="8229600" cy="3456384"/>
          </a:xfrm>
        </p:spPr>
        <p:txBody>
          <a:bodyPr>
            <a:normAutofit/>
          </a:bodyPr>
          <a:lstStyle/>
          <a:p>
            <a:r>
              <a:rPr lang="en-US" sz="2000" dirty="0">
                <a:solidFill>
                  <a:srgbClr val="002060"/>
                </a:solidFill>
              </a:rPr>
              <a:t>The important distinction is that </a:t>
            </a:r>
            <a:r>
              <a:rPr lang="en-US" sz="2000" dirty="0" err="1">
                <a:solidFill>
                  <a:srgbClr val="002060"/>
                </a:solidFill>
              </a:rPr>
              <a:t>OpenAI</a:t>
            </a:r>
            <a:r>
              <a:rPr lang="en-US" sz="2000" dirty="0">
                <a:solidFill>
                  <a:srgbClr val="002060"/>
                </a:solidFill>
              </a:rPr>
              <a:t> did not invent the Transformer. It successfully packaged advanced language-model technology into a product </a:t>
            </a:r>
            <a:r>
              <a:rPr lang="en-US" sz="2000" dirty="0" smtClean="0">
                <a:solidFill>
                  <a:srgbClr val="002060"/>
                </a:solidFill>
              </a:rPr>
              <a:t>[Nov-2022] that </a:t>
            </a:r>
            <a:r>
              <a:rPr lang="en-US" sz="2000" dirty="0">
                <a:solidFill>
                  <a:srgbClr val="002060"/>
                </a:solidFill>
              </a:rPr>
              <a:t>people could immediately understand and use</a:t>
            </a:r>
            <a:r>
              <a:rPr lang="en-US" sz="2000" dirty="0" smtClean="0">
                <a:solidFill>
                  <a:srgbClr val="002060"/>
                </a:solidFill>
              </a:rPr>
              <a:t>.</a:t>
            </a:r>
          </a:p>
          <a:p>
            <a:r>
              <a:rPr lang="en-US" sz="2000" dirty="0">
                <a:solidFill>
                  <a:srgbClr val="002060"/>
                </a:solidFill>
              </a:rPr>
              <a:t>However, Google had a particular challenge: its search business depended on delivering reliable information and maintaining users' trust. A </a:t>
            </a:r>
            <a:r>
              <a:rPr lang="en-US" sz="2000" dirty="0" err="1">
                <a:solidFill>
                  <a:srgbClr val="002060"/>
                </a:solidFill>
              </a:rPr>
              <a:t>chatbot</a:t>
            </a:r>
            <a:r>
              <a:rPr lang="en-US" sz="2000" dirty="0">
                <a:solidFill>
                  <a:srgbClr val="002060"/>
                </a:solidFill>
              </a:rPr>
              <a:t> that confidently generated incorrect answers could damage that trust</a:t>
            </a:r>
            <a:r>
              <a:rPr lang="en-US" sz="2000" dirty="0" smtClean="0">
                <a:solidFill>
                  <a:srgbClr val="002060"/>
                </a:solidFill>
              </a:rPr>
              <a:t>.</a:t>
            </a:r>
          </a:p>
          <a:p>
            <a:r>
              <a:rPr lang="en-US" sz="2000" dirty="0" smtClean="0">
                <a:solidFill>
                  <a:srgbClr val="002060"/>
                </a:solidFill>
              </a:rPr>
              <a:t>On </a:t>
            </a:r>
            <a:r>
              <a:rPr lang="en-US" sz="2000" dirty="0">
                <a:solidFill>
                  <a:srgbClr val="002060"/>
                </a:solidFill>
              </a:rPr>
              <a:t>6 February 2023, </a:t>
            </a:r>
            <a:r>
              <a:rPr lang="en-US" sz="2000" dirty="0" err="1">
                <a:solidFill>
                  <a:srgbClr val="002060"/>
                </a:solidFill>
              </a:rPr>
              <a:t>Sundar</a:t>
            </a:r>
            <a:r>
              <a:rPr lang="en-US" sz="2000" dirty="0">
                <a:solidFill>
                  <a:srgbClr val="002060"/>
                </a:solidFill>
              </a:rPr>
              <a:t> </a:t>
            </a:r>
            <a:r>
              <a:rPr lang="en-US" sz="2000" dirty="0" err="1">
                <a:solidFill>
                  <a:srgbClr val="002060"/>
                </a:solidFill>
              </a:rPr>
              <a:t>Pichai</a:t>
            </a:r>
            <a:r>
              <a:rPr lang="en-US" sz="2000" dirty="0">
                <a:solidFill>
                  <a:srgbClr val="002060"/>
                </a:solidFill>
              </a:rPr>
              <a:t> announced Bard, Google's experimental conversational AI service. The timing was significant: Microsoft was preparing to integrate ChatGPT into Bing, and Google faced the prospect of a competitor challenging its search business.</a:t>
            </a:r>
            <a:endParaRPr lang="en-IN" sz="2000" dirty="0">
              <a:solidFill>
                <a:srgbClr val="002060"/>
              </a:solidFill>
            </a:endParaRPr>
          </a:p>
        </p:txBody>
      </p:sp>
    </p:spTree>
    <p:extLst>
      <p:ext uri="{BB962C8B-B14F-4D97-AF65-F5344CB8AC3E}">
        <p14:creationId xmlns:p14="http://schemas.microsoft.com/office/powerpoint/2010/main" val="1465671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2060"/>
                </a:solidFill>
              </a:rPr>
              <a:t>Bard's launch and the James Webb mistake</a:t>
            </a:r>
            <a:endParaRPr lang="en-IN" dirty="0">
              <a:solidFill>
                <a:srgbClr val="002060"/>
              </a:solidFill>
            </a:endParaRPr>
          </a:p>
        </p:txBody>
      </p:sp>
      <p:sp>
        <p:nvSpPr>
          <p:cNvPr id="3" name="Content Placeholder 2"/>
          <p:cNvSpPr>
            <a:spLocks noGrp="1"/>
          </p:cNvSpPr>
          <p:nvPr>
            <p:ph idx="1"/>
          </p:nvPr>
        </p:nvSpPr>
        <p:spPr/>
        <p:txBody>
          <a:bodyPr>
            <a:normAutofit/>
          </a:bodyPr>
          <a:lstStyle/>
          <a:p>
            <a:r>
              <a:rPr lang="en-US" sz="2000" dirty="0"/>
              <a:t>Bard was introduced to the public with a promotional example asking what discoveries from the James Webb Space Telescope could be explained to a child</a:t>
            </a:r>
            <a:r>
              <a:rPr lang="en-US" sz="2000" dirty="0" smtClean="0"/>
              <a:t>.</a:t>
            </a:r>
          </a:p>
          <a:p>
            <a:r>
              <a:rPr lang="en-US" sz="2000" dirty="0"/>
              <a:t>Unfortunately, Bard gave an incorrect answer. It suggested that the James Webb Space Telescope had taken the first pictures of planets outside our solar system. In reality, the first direct images of </a:t>
            </a:r>
            <a:r>
              <a:rPr lang="en-US" sz="2000" dirty="0" err="1"/>
              <a:t>exoplanets</a:t>
            </a:r>
            <a:r>
              <a:rPr lang="en-US" sz="2000" dirty="0"/>
              <a:t> had been captured earlier using the European Southern Observatory's Very Large Telescope</a:t>
            </a:r>
            <a:r>
              <a:rPr lang="en-US" sz="2000" dirty="0" smtClean="0"/>
              <a:t>.</a:t>
            </a:r>
          </a:p>
          <a:p>
            <a:r>
              <a:rPr lang="en-US" sz="2000" dirty="0"/>
              <a:t>The mistake became a global news story. Alphabet shares fell sharply during trading, wiping out roughly $100 billion in market value at one point.</a:t>
            </a:r>
            <a:endParaRPr lang="en-IN" sz="2000" dirty="0"/>
          </a:p>
        </p:txBody>
      </p:sp>
    </p:spTree>
    <p:extLst>
      <p:ext uri="{BB962C8B-B14F-4D97-AF65-F5344CB8AC3E}">
        <p14:creationId xmlns:p14="http://schemas.microsoft.com/office/powerpoint/2010/main" val="1739989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rgbClr val="002060"/>
                </a:solidFill>
              </a:rPr>
              <a:t>Bard rebranded as Gemini on Feb 2024</a:t>
            </a:r>
            <a:endParaRPr lang="en-IN" dirty="0">
              <a:solidFill>
                <a:srgbClr val="002060"/>
              </a:solidFill>
            </a:endParaRPr>
          </a:p>
        </p:txBody>
      </p:sp>
      <p:sp>
        <p:nvSpPr>
          <p:cNvPr id="3" name="Content Placeholder 2"/>
          <p:cNvSpPr>
            <a:spLocks noGrp="1"/>
          </p:cNvSpPr>
          <p:nvPr>
            <p:ph idx="1"/>
          </p:nvPr>
        </p:nvSpPr>
        <p:spPr/>
        <p:txBody>
          <a:bodyPr/>
          <a:lstStyle/>
          <a:p>
            <a:r>
              <a:rPr lang="en-US" dirty="0" smtClean="0"/>
              <a:t>Google rebranded </a:t>
            </a:r>
            <a:r>
              <a:rPr lang="en-US" dirty="0"/>
              <a:t>Bard as Gemini on 8 February </a:t>
            </a:r>
            <a:r>
              <a:rPr lang="en-US" dirty="0" smtClean="0"/>
              <a:t>2024.</a:t>
            </a:r>
          </a:p>
          <a:p>
            <a:r>
              <a:rPr lang="en-US" dirty="0"/>
              <a:t>Anthropic introduced Claude on 14 March 2023. Founded by former </a:t>
            </a:r>
            <a:r>
              <a:rPr lang="en-US" dirty="0" err="1"/>
              <a:t>OpenAI</a:t>
            </a:r>
            <a:r>
              <a:rPr lang="en-US" dirty="0"/>
              <a:t> employees, Anthropic placed considerable emphasis on building AI systems that are helpful, honest, harmless and steerable.</a:t>
            </a:r>
            <a:endParaRPr lang="en-IN" dirty="0"/>
          </a:p>
        </p:txBody>
      </p:sp>
    </p:spTree>
    <p:extLst>
      <p:ext uri="{BB962C8B-B14F-4D97-AF65-F5344CB8AC3E}">
        <p14:creationId xmlns:p14="http://schemas.microsoft.com/office/powerpoint/2010/main" val="1644244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1825597"/>
            <a:ext cx="8229600" cy="458115"/>
          </a:xfrm>
        </p:spPr>
        <p:txBody>
          <a:bodyPr>
            <a:normAutofit fontScale="90000"/>
          </a:bodyPr>
          <a:lstStyle/>
          <a:p>
            <a:pPr algn="ctr"/>
            <a:r>
              <a:rPr lang="en-US" dirty="0">
                <a:solidFill>
                  <a:srgbClr val="002060"/>
                </a:solidFill>
              </a:rPr>
              <a:t>Top five by estimated website-visit share</a:t>
            </a:r>
            <a:r>
              <a:rPr lang="en-IN" dirty="0">
                <a:solidFill>
                  <a:srgbClr val="002060"/>
                </a:solidFill>
              </a:rPr>
              <a:t/>
            </a:r>
            <a:br>
              <a:rPr lang="en-IN" dirty="0">
                <a:solidFill>
                  <a:srgbClr val="002060"/>
                </a:solidFill>
              </a:rPr>
            </a:br>
            <a:endParaRPr lang="en-IN" dirty="0">
              <a:solidFill>
                <a:srgbClr val="002060"/>
              </a:solidFill>
            </a:endParaRPr>
          </a:p>
        </p:txBody>
      </p:sp>
      <p:pic>
        <p:nvPicPr>
          <p:cNvPr id="4" name="Content Placeholder 3"/>
          <p:cNvPicPr>
            <a:picLocks noGrp="1" noChangeAspect="1"/>
          </p:cNvPicPr>
          <p:nvPr>
            <p:ph idx="1"/>
          </p:nvPr>
        </p:nvPicPr>
        <p:blipFill>
          <a:blip r:embed="rId2"/>
          <a:stretch>
            <a:fillRect/>
          </a:stretch>
        </p:blipFill>
        <p:spPr>
          <a:xfrm>
            <a:off x="1331640" y="2204864"/>
            <a:ext cx="6622667" cy="3919538"/>
          </a:xfrm>
          <a:prstGeom prst="rect">
            <a:avLst/>
          </a:prstGeom>
        </p:spPr>
      </p:pic>
    </p:spTree>
    <p:extLst>
      <p:ext uri="{BB962C8B-B14F-4D97-AF65-F5344CB8AC3E}">
        <p14:creationId xmlns:p14="http://schemas.microsoft.com/office/powerpoint/2010/main" val="2863640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rgbClr val="002060"/>
                </a:solidFill>
              </a:rPr>
              <a:t>The next five challengers to watch</a:t>
            </a:r>
            <a:endParaRPr lang="en-IN" dirty="0">
              <a:solidFill>
                <a:srgbClr val="002060"/>
              </a:solidFill>
            </a:endParaRPr>
          </a:p>
        </p:txBody>
      </p:sp>
      <p:pic>
        <p:nvPicPr>
          <p:cNvPr id="4" name="Content Placeholder 3"/>
          <p:cNvPicPr>
            <a:picLocks noGrp="1" noChangeAspect="1"/>
          </p:cNvPicPr>
          <p:nvPr>
            <p:ph idx="1"/>
          </p:nvPr>
        </p:nvPicPr>
        <p:blipFill>
          <a:blip r:embed="rId2"/>
          <a:stretch>
            <a:fillRect/>
          </a:stretch>
        </p:blipFill>
        <p:spPr>
          <a:xfrm>
            <a:off x="1894714" y="2054655"/>
            <a:ext cx="5338101" cy="3919538"/>
          </a:xfrm>
          <a:prstGeom prst="rect">
            <a:avLst/>
          </a:prstGeom>
        </p:spPr>
      </p:pic>
    </p:spTree>
    <p:extLst>
      <p:ext uri="{BB962C8B-B14F-4D97-AF65-F5344CB8AC3E}">
        <p14:creationId xmlns:p14="http://schemas.microsoft.com/office/powerpoint/2010/main" val="2711498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lgn="ctr"/>
            <a:r>
              <a:rPr lang="en-US" b="1" dirty="0">
                <a:solidFill>
                  <a:srgbClr val="002060"/>
                </a:solidFill>
              </a:rPr>
              <a:t>Smart way of using Word Embedding</a:t>
            </a:r>
            <a:endParaRPr lang="en-IN" b="1" dirty="0">
              <a:solidFill>
                <a:srgbClr val="002060"/>
              </a:solidFill>
            </a:endParaRPr>
          </a:p>
        </p:txBody>
      </p:sp>
      <p:sp>
        <p:nvSpPr>
          <p:cNvPr id="4" name="Content Placeholder 3"/>
          <p:cNvSpPr>
            <a:spLocks noGrp="1"/>
          </p:cNvSpPr>
          <p:nvPr>
            <p:ph idx="1"/>
          </p:nvPr>
        </p:nvSpPr>
        <p:spPr/>
        <p:txBody>
          <a:bodyPr/>
          <a:lstStyle/>
          <a:p>
            <a:endParaRPr lang="en-IN" dirty="0"/>
          </a:p>
          <a:p>
            <a:endParaRPr lang="en-IN" dirty="0"/>
          </a:p>
          <a:p>
            <a:endParaRPr lang="en-IN" dirty="0"/>
          </a:p>
          <a:p>
            <a:pPr marL="0" indent="0" algn="ctr">
              <a:buNone/>
            </a:pPr>
            <a:r>
              <a:rPr lang="en-IN" dirty="0"/>
              <a:t> https://projector.tensorflow.org/</a:t>
            </a:r>
          </a:p>
        </p:txBody>
      </p:sp>
    </p:spTree>
    <p:extLst>
      <p:ext uri="{BB962C8B-B14F-4D97-AF65-F5344CB8AC3E}">
        <p14:creationId xmlns:p14="http://schemas.microsoft.com/office/powerpoint/2010/main" val="3882379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rgbClr val="002060"/>
                </a:solidFill>
              </a:rPr>
              <a:t>Positional Encoding</a:t>
            </a:r>
            <a:endParaRPr lang="en-IN" b="1" dirty="0">
              <a:solidFill>
                <a:srgbClr val="002060"/>
              </a:solidFill>
            </a:endParaRPr>
          </a:p>
        </p:txBody>
      </p:sp>
      <p:pic>
        <p:nvPicPr>
          <p:cNvPr id="5" name="Content Placeholder 4"/>
          <p:cNvPicPr>
            <a:picLocks noGrp="1" noChangeAspect="1"/>
          </p:cNvPicPr>
          <p:nvPr>
            <p:ph idx="1"/>
          </p:nvPr>
        </p:nvPicPr>
        <p:blipFill>
          <a:blip r:embed="rId2"/>
          <a:stretch>
            <a:fillRect/>
          </a:stretch>
        </p:blipFill>
        <p:spPr>
          <a:xfrm>
            <a:off x="2997367" y="2348880"/>
            <a:ext cx="3132795" cy="3919538"/>
          </a:xfrm>
          <a:prstGeom prst="rect">
            <a:avLst/>
          </a:prstGeom>
        </p:spPr>
      </p:pic>
    </p:spTree>
    <p:extLst>
      <p:ext uri="{BB962C8B-B14F-4D97-AF65-F5344CB8AC3E}">
        <p14:creationId xmlns:p14="http://schemas.microsoft.com/office/powerpoint/2010/main" val="3635898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1628800"/>
            <a:ext cx="7128792" cy="786263"/>
          </a:xfrm>
        </p:spPr>
        <p:txBody>
          <a:bodyPr/>
          <a:lstStyle/>
          <a:p>
            <a:r>
              <a:rPr lang="en-US" dirty="0">
                <a:solidFill>
                  <a:srgbClr val="002060"/>
                </a:solidFill>
              </a:rPr>
              <a:t>Transformer Encoder</a:t>
            </a:r>
            <a:endParaRPr lang="en-IN" dirty="0">
              <a:solidFill>
                <a:srgbClr val="002060"/>
              </a:solidFill>
            </a:endParaRPr>
          </a:p>
        </p:txBody>
      </p:sp>
      <p:pic>
        <p:nvPicPr>
          <p:cNvPr id="3" name="Picture 2"/>
          <p:cNvPicPr>
            <a:picLocks noChangeAspect="1"/>
          </p:cNvPicPr>
          <p:nvPr/>
        </p:nvPicPr>
        <p:blipFill>
          <a:blip r:embed="rId2"/>
          <a:stretch>
            <a:fillRect/>
          </a:stretch>
        </p:blipFill>
        <p:spPr>
          <a:xfrm>
            <a:off x="3779912" y="2636912"/>
            <a:ext cx="2232248" cy="3853479"/>
          </a:xfrm>
          <a:prstGeom prst="rect">
            <a:avLst/>
          </a:prstGeom>
        </p:spPr>
      </p:pic>
    </p:spTree>
    <p:extLst>
      <p:ext uri="{BB962C8B-B14F-4D97-AF65-F5344CB8AC3E}">
        <p14:creationId xmlns:p14="http://schemas.microsoft.com/office/powerpoint/2010/main" val="2217606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1268760"/>
            <a:ext cx="7632848" cy="792088"/>
          </a:xfrm>
        </p:spPr>
        <p:txBody>
          <a:bodyPr/>
          <a:lstStyle/>
          <a:p>
            <a:r>
              <a:rPr lang="en-US" dirty="0">
                <a:solidFill>
                  <a:srgbClr val="002060"/>
                </a:solidFill>
              </a:rPr>
              <a:t>Transformer Decoder</a:t>
            </a:r>
            <a:endParaRPr lang="en-IN" dirty="0">
              <a:solidFill>
                <a:srgbClr val="002060"/>
              </a:solidFill>
            </a:endParaRPr>
          </a:p>
        </p:txBody>
      </p:sp>
      <p:pic>
        <p:nvPicPr>
          <p:cNvPr id="3" name="Picture 2"/>
          <p:cNvPicPr>
            <a:picLocks noChangeAspect="1"/>
          </p:cNvPicPr>
          <p:nvPr/>
        </p:nvPicPr>
        <p:blipFill>
          <a:blip r:embed="rId2"/>
          <a:stretch>
            <a:fillRect/>
          </a:stretch>
        </p:blipFill>
        <p:spPr>
          <a:xfrm>
            <a:off x="4139952" y="1916832"/>
            <a:ext cx="1944216" cy="4752528"/>
          </a:xfrm>
          <a:prstGeom prst="rect">
            <a:avLst/>
          </a:prstGeom>
        </p:spPr>
      </p:pic>
    </p:spTree>
    <p:extLst>
      <p:ext uri="{BB962C8B-B14F-4D97-AF65-F5344CB8AC3E}">
        <p14:creationId xmlns:p14="http://schemas.microsoft.com/office/powerpoint/2010/main" val="1761280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772816"/>
            <a:ext cx="4042792" cy="1656184"/>
          </a:xfrm>
        </p:spPr>
        <p:txBody>
          <a:bodyPr>
            <a:normAutofit fontScale="90000"/>
          </a:bodyPr>
          <a:lstStyle/>
          <a:p>
            <a:r>
              <a:rPr lang="en-US" dirty="0">
                <a:solidFill>
                  <a:srgbClr val="002060"/>
                </a:solidFill>
              </a:rPr>
              <a:t>Complete Transformer </a:t>
            </a:r>
            <a:br>
              <a:rPr lang="en-US" dirty="0">
                <a:solidFill>
                  <a:srgbClr val="002060"/>
                </a:solidFill>
              </a:rPr>
            </a:br>
            <a:r>
              <a:rPr lang="en-US" dirty="0">
                <a:solidFill>
                  <a:srgbClr val="002060"/>
                </a:solidFill>
              </a:rPr>
              <a:t>Architecture</a:t>
            </a:r>
            <a:endParaRPr lang="en-IN" dirty="0">
              <a:solidFill>
                <a:srgbClr val="002060"/>
              </a:solidFill>
            </a:endParaRPr>
          </a:p>
        </p:txBody>
      </p:sp>
      <p:pic>
        <p:nvPicPr>
          <p:cNvPr id="3" name="Picture 2"/>
          <p:cNvPicPr>
            <a:picLocks noChangeAspect="1"/>
          </p:cNvPicPr>
          <p:nvPr/>
        </p:nvPicPr>
        <p:blipFill>
          <a:blip r:embed="rId2"/>
          <a:stretch>
            <a:fillRect/>
          </a:stretch>
        </p:blipFill>
        <p:spPr>
          <a:xfrm>
            <a:off x="4572000" y="1412776"/>
            <a:ext cx="3960440" cy="5264317"/>
          </a:xfrm>
          <a:prstGeom prst="rect">
            <a:avLst/>
          </a:prstGeom>
        </p:spPr>
      </p:pic>
    </p:spTree>
    <p:extLst>
      <p:ext uri="{BB962C8B-B14F-4D97-AF65-F5344CB8AC3E}">
        <p14:creationId xmlns:p14="http://schemas.microsoft.com/office/powerpoint/2010/main" val="38422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rgbClr val="002060"/>
                </a:solidFill>
              </a:rPr>
              <a:t>Decoder Response in Production</a:t>
            </a:r>
            <a:endParaRPr lang="en-IN" b="1" dirty="0">
              <a:solidFill>
                <a:srgbClr val="002060"/>
              </a:solidFill>
            </a:endParaRPr>
          </a:p>
        </p:txBody>
      </p:sp>
      <p:sp>
        <p:nvSpPr>
          <p:cNvPr id="5" name="Content Placeholder 4"/>
          <p:cNvSpPr>
            <a:spLocks noGrp="1"/>
          </p:cNvSpPr>
          <p:nvPr>
            <p:ph idx="1"/>
          </p:nvPr>
        </p:nvSpPr>
        <p:spPr/>
        <p:txBody>
          <a:bodyPr>
            <a:normAutofit lnSpcReduction="10000"/>
          </a:bodyPr>
          <a:lstStyle/>
          <a:p>
            <a:pPr marL="0" lvl="0" indent="0" eaLnBrk="0" fontAlgn="base" hangingPunct="0">
              <a:spcBef>
                <a:spcPct val="0"/>
              </a:spcBef>
              <a:spcAft>
                <a:spcPct val="0"/>
              </a:spcAft>
              <a:buNone/>
            </a:pPr>
            <a:r>
              <a:rPr lang="en-US" sz="1600" dirty="0">
                <a:latin typeface="Arial" panose="020B0604020202020204" pitchFamily="34" charset="0"/>
                <a:cs typeface="Arial" panose="020B0604020202020204" pitchFamily="34" charset="0"/>
              </a:rPr>
              <a:t>The decoder generates a Query from the &lt;SOS&gt; token, looking to find relevant information to start the sentence. </a:t>
            </a:r>
          </a:p>
          <a:p>
            <a:pPr marL="0" lvl="0" indent="0" eaLnBrk="0" fontAlgn="base" hangingPunct="0">
              <a:spcBef>
                <a:spcPct val="0"/>
              </a:spcBef>
              <a:spcAft>
                <a:spcPct val="0"/>
              </a:spcAft>
              <a:buNone/>
            </a:pPr>
            <a:endParaRPr lang="en-US" sz="160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r>
              <a:rPr lang="en-US" sz="1600" dirty="0"/>
              <a:t>The Query from the decoder is used to attend to the Keys (K) from the encoder. The Query asks, "Which parts of the input are relevant to what I need to generate next?" The Keys help answer this by indicating the importance of each token in the input sentence.</a:t>
            </a:r>
          </a:p>
          <a:p>
            <a:pPr marL="0" lvl="0" indent="0" eaLnBrk="0" fontAlgn="base" hangingPunct="0">
              <a:spcBef>
                <a:spcPct val="0"/>
              </a:spcBef>
              <a:spcAft>
                <a:spcPct val="0"/>
              </a:spcAft>
              <a:buNone/>
            </a:pPr>
            <a:endParaRPr lang="en-US" sz="160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r>
              <a:rPr lang="en-US" sz="1600" dirty="0"/>
              <a:t>The attention scores (computed from Query and Key) determine how much focus each part of the input gets. These scores are used to weight the Values, which contain the actual content information from the input sentence.</a:t>
            </a:r>
          </a:p>
          <a:p>
            <a:pPr marL="0" lvl="0" indent="0" eaLnBrk="0" fontAlgn="base" hangingPunct="0">
              <a:spcBef>
                <a:spcPct val="0"/>
              </a:spcBef>
              <a:spcAft>
                <a:spcPct val="0"/>
              </a:spcAft>
              <a:buNone/>
            </a:pPr>
            <a:endParaRPr lang="en-US" sz="1600" dirty="0"/>
          </a:p>
          <a:p>
            <a:pPr marL="0" lvl="0" indent="0" eaLnBrk="0" fontAlgn="base" hangingPunct="0">
              <a:spcBef>
                <a:spcPct val="0"/>
              </a:spcBef>
              <a:spcAft>
                <a:spcPct val="0"/>
              </a:spcAft>
              <a:buNone/>
            </a:pPr>
            <a:r>
              <a:rPr lang="en-US" sz="1600" dirty="0"/>
              <a:t>The output from the cross-attention (a weighted sum of Values) gives the decoder rich contextual information from the input sentence. This helps the decoder generate the next token.</a:t>
            </a:r>
          </a:p>
          <a:p>
            <a:pPr marL="0" lvl="0" indent="0" eaLnBrk="0" fontAlgn="base" hangingPunct="0">
              <a:spcBef>
                <a:spcPct val="0"/>
              </a:spcBef>
              <a:spcAft>
                <a:spcPct val="0"/>
              </a:spcAft>
              <a:buNone/>
            </a:pPr>
            <a:endParaRPr lang="en-US" sz="160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r>
              <a:rPr lang="en-US" sz="1600" dirty="0"/>
              <a:t>The process repeats for each subsequent token in the output sentence. Each time, the Query is formed from the previously generated part of the output sentence and is used to attend to the Keys (importance) and Values (content) from the encoder.</a:t>
            </a:r>
            <a:endParaRPr lang="en-US" sz="160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en-US" sz="16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4099764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484784"/>
            <a:ext cx="8229600" cy="720080"/>
          </a:xfrm>
        </p:spPr>
        <p:txBody>
          <a:bodyPr>
            <a:normAutofit/>
          </a:bodyPr>
          <a:lstStyle/>
          <a:p>
            <a:r>
              <a:rPr lang="en-IN" sz="2800" dirty="0">
                <a:solidFill>
                  <a:srgbClr val="002060"/>
                </a:solidFill>
              </a:rPr>
              <a:t>https://huggingface.co/spaces/exbert-project/exbert</a:t>
            </a:r>
          </a:p>
        </p:txBody>
      </p:sp>
      <p:pic>
        <p:nvPicPr>
          <p:cNvPr id="3" name="Picture 2"/>
          <p:cNvPicPr>
            <a:picLocks noChangeAspect="1"/>
          </p:cNvPicPr>
          <p:nvPr/>
        </p:nvPicPr>
        <p:blipFill>
          <a:blip r:embed="rId2"/>
          <a:stretch>
            <a:fillRect/>
          </a:stretch>
        </p:blipFill>
        <p:spPr>
          <a:xfrm>
            <a:off x="1475656" y="2204864"/>
            <a:ext cx="6553200" cy="4210050"/>
          </a:xfrm>
          <a:prstGeom prst="rect">
            <a:avLst/>
          </a:prstGeom>
        </p:spPr>
      </p:pic>
    </p:spTree>
    <p:extLst>
      <p:ext uri="{BB962C8B-B14F-4D97-AF65-F5344CB8AC3E}">
        <p14:creationId xmlns:p14="http://schemas.microsoft.com/office/powerpoint/2010/main" val="1711031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AF0D79B7-1948-C915-98F5-79A9BFEE7DE2}"/>
              </a:ext>
            </a:extLst>
          </p:cNvPr>
          <p:cNvSpPr>
            <a:spLocks noGrp="1"/>
          </p:cNvSpPr>
          <p:nvPr>
            <p:ph type="title"/>
          </p:nvPr>
        </p:nvSpPr>
        <p:spPr/>
        <p:txBody>
          <a:bodyPr>
            <a:normAutofit/>
          </a:bodyPr>
          <a:lstStyle/>
          <a:p>
            <a:r>
              <a:rPr lang="en-US" sz="3200" dirty="0">
                <a:solidFill>
                  <a:srgbClr val="002060"/>
                </a:solidFill>
              </a:rPr>
              <a:t>Retrieval-augmented generation (rag)</a:t>
            </a:r>
            <a:endParaRPr lang="en-IN" sz="3200" dirty="0">
              <a:solidFill>
                <a:srgbClr val="002060"/>
              </a:solidFill>
            </a:endParaRPr>
          </a:p>
        </p:txBody>
      </p:sp>
      <p:sp>
        <p:nvSpPr>
          <p:cNvPr id="4" name="Text Placeholder 3">
            <a:extLst>
              <a:ext uri="{FF2B5EF4-FFF2-40B4-BE49-F238E27FC236}">
                <a16:creationId xmlns="" xmlns:a16="http://schemas.microsoft.com/office/drawing/2014/main" id="{236112B1-649A-DBD4-64D9-D3842A686927}"/>
              </a:ext>
            </a:extLst>
          </p:cNvPr>
          <p:cNvSpPr>
            <a:spLocks noGrp="1"/>
          </p:cNvSpPr>
          <p:nvPr>
            <p:ph type="body" idx="1"/>
          </p:nvPr>
        </p:nvSpPr>
        <p:spPr>
          <a:xfrm>
            <a:off x="395536" y="2060848"/>
            <a:ext cx="8352927" cy="1500187"/>
          </a:xfrm>
        </p:spPr>
        <p:txBody>
          <a:bodyPr>
            <a:normAutofit/>
          </a:bodyPr>
          <a:lstStyle/>
          <a:p>
            <a:pPr algn="ctr"/>
            <a:r>
              <a:rPr lang="en-US" sz="3600" dirty="0">
                <a:solidFill>
                  <a:srgbClr val="002060"/>
                </a:solidFill>
              </a:rPr>
              <a:t>Unstructured Case Sheets to Vector Space</a:t>
            </a:r>
            <a:endParaRPr lang="en-IN" sz="3600" dirty="0">
              <a:solidFill>
                <a:srgbClr val="002060"/>
              </a:solidFill>
            </a:endParaRPr>
          </a:p>
        </p:txBody>
      </p:sp>
    </p:spTree>
    <p:extLst>
      <p:ext uri="{BB962C8B-B14F-4D97-AF65-F5344CB8AC3E}">
        <p14:creationId xmlns:p14="http://schemas.microsoft.com/office/powerpoint/2010/main" val="1490071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2E93AD6C-4D23-12B1-BC04-30138E77CD6C}"/>
              </a:ext>
            </a:extLst>
          </p:cNvPr>
          <p:cNvPicPr>
            <a:picLocks noChangeAspect="1"/>
          </p:cNvPicPr>
          <p:nvPr/>
        </p:nvPicPr>
        <p:blipFill>
          <a:blip r:embed="rId2"/>
          <a:stretch>
            <a:fillRect/>
          </a:stretch>
        </p:blipFill>
        <p:spPr>
          <a:xfrm>
            <a:off x="971600" y="2780928"/>
            <a:ext cx="6925642" cy="2981741"/>
          </a:xfrm>
          <a:prstGeom prst="rect">
            <a:avLst/>
          </a:prstGeom>
        </p:spPr>
      </p:pic>
    </p:spTree>
    <p:extLst>
      <p:ext uri="{BB962C8B-B14F-4D97-AF65-F5344CB8AC3E}">
        <p14:creationId xmlns:p14="http://schemas.microsoft.com/office/powerpoint/2010/main" val="3699664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ABB8DF6-EFBE-9876-CEA1-2A32E60AFD5E}"/>
              </a:ext>
            </a:extLst>
          </p:cNvPr>
          <p:cNvPicPr>
            <a:picLocks noChangeAspect="1"/>
          </p:cNvPicPr>
          <p:nvPr/>
        </p:nvPicPr>
        <p:blipFill>
          <a:blip r:embed="rId2"/>
          <a:stretch>
            <a:fillRect/>
          </a:stretch>
        </p:blipFill>
        <p:spPr>
          <a:xfrm>
            <a:off x="285152" y="2708920"/>
            <a:ext cx="8573696" cy="3896269"/>
          </a:xfrm>
          <a:prstGeom prst="rect">
            <a:avLst/>
          </a:prstGeom>
        </p:spPr>
      </p:pic>
      <p:sp>
        <p:nvSpPr>
          <p:cNvPr id="8" name="Title 7">
            <a:extLst>
              <a:ext uri="{FF2B5EF4-FFF2-40B4-BE49-F238E27FC236}">
                <a16:creationId xmlns="" xmlns:a16="http://schemas.microsoft.com/office/drawing/2014/main" id="{FFFA1EDA-1D88-967D-6BBB-E8F04E506938}"/>
              </a:ext>
            </a:extLst>
          </p:cNvPr>
          <p:cNvSpPr>
            <a:spLocks noGrp="1"/>
          </p:cNvSpPr>
          <p:nvPr>
            <p:ph type="title"/>
          </p:nvPr>
        </p:nvSpPr>
        <p:spPr>
          <a:xfrm>
            <a:off x="107504" y="1484784"/>
            <a:ext cx="8229600" cy="1143000"/>
          </a:xfrm>
        </p:spPr>
        <p:txBody>
          <a:bodyPr/>
          <a:lstStyle/>
          <a:p>
            <a:r>
              <a:rPr lang="en-US" dirty="0">
                <a:solidFill>
                  <a:srgbClr val="002060"/>
                </a:solidFill>
              </a:rPr>
              <a:t>Retrieval using Llama Index</a:t>
            </a:r>
            <a:endParaRPr lang="en-IN" dirty="0">
              <a:solidFill>
                <a:srgbClr val="002060"/>
              </a:solidFill>
            </a:endParaRPr>
          </a:p>
        </p:txBody>
      </p:sp>
    </p:spTree>
    <p:extLst>
      <p:ext uri="{BB962C8B-B14F-4D97-AF65-F5344CB8AC3E}">
        <p14:creationId xmlns:p14="http://schemas.microsoft.com/office/powerpoint/2010/main" val="558192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F3E4B4-5847-3358-96C7-496240C6A708}"/>
              </a:ext>
            </a:extLst>
          </p:cNvPr>
          <p:cNvSpPr>
            <a:spLocks noGrp="1"/>
          </p:cNvSpPr>
          <p:nvPr>
            <p:ph type="title"/>
          </p:nvPr>
        </p:nvSpPr>
        <p:spPr>
          <a:xfrm>
            <a:off x="457199" y="1484784"/>
            <a:ext cx="8229600" cy="1143000"/>
          </a:xfrm>
        </p:spPr>
        <p:txBody>
          <a:bodyPr>
            <a:normAutofit fontScale="90000"/>
          </a:bodyPr>
          <a:lstStyle/>
          <a:p>
            <a:r>
              <a:rPr lang="en-US" dirty="0">
                <a:solidFill>
                  <a:srgbClr val="002060"/>
                </a:solidFill>
              </a:rPr>
              <a:t>Configuring RAG with Llama-2 Model</a:t>
            </a:r>
            <a:endParaRPr lang="en-IN" dirty="0">
              <a:solidFill>
                <a:srgbClr val="002060"/>
              </a:solidFill>
            </a:endParaRPr>
          </a:p>
        </p:txBody>
      </p:sp>
      <p:pic>
        <p:nvPicPr>
          <p:cNvPr id="4" name="Picture 3">
            <a:extLst>
              <a:ext uri="{FF2B5EF4-FFF2-40B4-BE49-F238E27FC236}">
                <a16:creationId xmlns="" xmlns:a16="http://schemas.microsoft.com/office/drawing/2014/main" id="{1B89DE67-3CC5-D5E2-6E08-9C2C3180C505}"/>
              </a:ext>
            </a:extLst>
          </p:cNvPr>
          <p:cNvPicPr>
            <a:picLocks noChangeAspect="1"/>
          </p:cNvPicPr>
          <p:nvPr/>
        </p:nvPicPr>
        <p:blipFill>
          <a:blip r:embed="rId2"/>
          <a:stretch>
            <a:fillRect/>
          </a:stretch>
        </p:blipFill>
        <p:spPr>
          <a:xfrm>
            <a:off x="766231" y="3140968"/>
            <a:ext cx="7611537" cy="3562847"/>
          </a:xfrm>
          <a:prstGeom prst="rect">
            <a:avLst/>
          </a:prstGeom>
        </p:spPr>
      </p:pic>
    </p:spTree>
    <p:extLst>
      <p:ext uri="{BB962C8B-B14F-4D97-AF65-F5344CB8AC3E}">
        <p14:creationId xmlns:p14="http://schemas.microsoft.com/office/powerpoint/2010/main" val="2882815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4C7E83-CA7A-17FB-C061-01C407A7EC19}"/>
              </a:ext>
            </a:extLst>
          </p:cNvPr>
          <p:cNvSpPr>
            <a:spLocks noGrp="1"/>
          </p:cNvSpPr>
          <p:nvPr>
            <p:ph type="title"/>
          </p:nvPr>
        </p:nvSpPr>
        <p:spPr>
          <a:xfrm>
            <a:off x="323528" y="1772816"/>
            <a:ext cx="8229600" cy="1143000"/>
          </a:xfrm>
        </p:spPr>
        <p:txBody>
          <a:bodyPr>
            <a:normAutofit/>
          </a:bodyPr>
          <a:lstStyle/>
          <a:p>
            <a:r>
              <a:rPr lang="en-US" dirty="0">
                <a:solidFill>
                  <a:srgbClr val="002060"/>
                </a:solidFill>
              </a:rPr>
              <a:t>Configuring RAG with GPT-4 Model</a:t>
            </a:r>
            <a:endParaRPr lang="en-IN" dirty="0"/>
          </a:p>
        </p:txBody>
      </p:sp>
      <p:pic>
        <p:nvPicPr>
          <p:cNvPr id="4" name="Picture 3">
            <a:extLst>
              <a:ext uri="{FF2B5EF4-FFF2-40B4-BE49-F238E27FC236}">
                <a16:creationId xmlns="" xmlns:a16="http://schemas.microsoft.com/office/drawing/2014/main" id="{E62A89A6-2CF5-6E27-BBCE-F76C920249BD}"/>
              </a:ext>
            </a:extLst>
          </p:cNvPr>
          <p:cNvPicPr>
            <a:picLocks noChangeAspect="1"/>
          </p:cNvPicPr>
          <p:nvPr/>
        </p:nvPicPr>
        <p:blipFill>
          <a:blip r:embed="rId2"/>
          <a:stretch>
            <a:fillRect/>
          </a:stretch>
        </p:blipFill>
        <p:spPr>
          <a:xfrm>
            <a:off x="385192" y="3068960"/>
            <a:ext cx="8373616" cy="3267932"/>
          </a:xfrm>
          <a:prstGeom prst="rect">
            <a:avLst/>
          </a:prstGeom>
        </p:spPr>
      </p:pic>
    </p:spTree>
    <p:extLst>
      <p:ext uri="{BB962C8B-B14F-4D97-AF65-F5344CB8AC3E}">
        <p14:creationId xmlns:p14="http://schemas.microsoft.com/office/powerpoint/2010/main" val="2340347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A0AF03EC-A2F5-5B92-D988-ADB6500C43C2}"/>
              </a:ext>
            </a:extLst>
          </p:cNvPr>
          <p:cNvSpPr>
            <a:spLocks noGrp="1"/>
          </p:cNvSpPr>
          <p:nvPr>
            <p:ph type="body" idx="1"/>
          </p:nvPr>
        </p:nvSpPr>
        <p:spPr/>
        <p:txBody>
          <a:bodyPr>
            <a:normAutofit/>
          </a:bodyPr>
          <a:lstStyle/>
          <a:p>
            <a:pPr algn="ctr"/>
            <a:r>
              <a:rPr lang="en-US" sz="3600" b="1" dirty="0">
                <a:solidFill>
                  <a:srgbClr val="002060"/>
                </a:solidFill>
              </a:rPr>
              <a:t>Vision Transformer Architecture </a:t>
            </a:r>
            <a:r>
              <a:rPr lang="en-US" sz="3600" b="1" dirty="0" smtClean="0">
                <a:solidFill>
                  <a:srgbClr val="002060"/>
                </a:solidFill>
              </a:rPr>
              <a:t>for Computer Vision</a:t>
            </a:r>
            <a:endParaRPr lang="en-IN" sz="3600" b="1" dirty="0">
              <a:solidFill>
                <a:srgbClr val="002060"/>
              </a:solidFill>
            </a:endParaRPr>
          </a:p>
        </p:txBody>
      </p:sp>
    </p:spTree>
    <p:extLst>
      <p:ext uri="{BB962C8B-B14F-4D97-AF65-F5344CB8AC3E}">
        <p14:creationId xmlns:p14="http://schemas.microsoft.com/office/powerpoint/2010/main" val="613661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79512" y="1916832"/>
            <a:ext cx="8568952" cy="3552825"/>
          </a:xfrm>
          <a:prstGeom prst="rect">
            <a:avLst/>
          </a:prstGeom>
        </p:spPr>
      </p:pic>
    </p:spTree>
    <p:extLst>
      <p:ext uri="{BB962C8B-B14F-4D97-AF65-F5344CB8AC3E}">
        <p14:creationId xmlns:p14="http://schemas.microsoft.com/office/powerpoint/2010/main" val="2514102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83568" y="1988840"/>
            <a:ext cx="7886700" cy="4181475"/>
          </a:xfrm>
          <a:prstGeom prst="rect">
            <a:avLst/>
          </a:prstGeom>
        </p:spPr>
      </p:pic>
    </p:spTree>
    <p:extLst>
      <p:ext uri="{BB962C8B-B14F-4D97-AF65-F5344CB8AC3E}">
        <p14:creationId xmlns:p14="http://schemas.microsoft.com/office/powerpoint/2010/main" val="377658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6737" y="2420888"/>
            <a:ext cx="8430526" cy="3352031"/>
          </a:xfrm>
          <a:prstGeom prst="rect">
            <a:avLst/>
          </a:prstGeom>
        </p:spPr>
      </p:pic>
    </p:spTree>
    <p:extLst>
      <p:ext uri="{BB962C8B-B14F-4D97-AF65-F5344CB8AC3E}">
        <p14:creationId xmlns:p14="http://schemas.microsoft.com/office/powerpoint/2010/main" val="3329391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rgbClr val="002060"/>
                </a:solidFill>
              </a:rPr>
              <a:t>CNN Vs </a:t>
            </a:r>
            <a:r>
              <a:rPr lang="en-US" dirty="0" err="1">
                <a:solidFill>
                  <a:srgbClr val="002060"/>
                </a:solidFill>
              </a:rPr>
              <a:t>ViT</a:t>
            </a:r>
            <a:endParaRPr lang="en-IN" dirty="0">
              <a:solidFill>
                <a:srgbClr val="002060"/>
              </a:solidFill>
            </a:endParaRPr>
          </a:p>
        </p:txBody>
      </p:sp>
      <p:sp>
        <p:nvSpPr>
          <p:cNvPr id="3" name="Content Placeholder 2"/>
          <p:cNvSpPr>
            <a:spLocks noGrp="1"/>
          </p:cNvSpPr>
          <p:nvPr>
            <p:ph idx="1"/>
          </p:nvPr>
        </p:nvSpPr>
        <p:spPr/>
        <p:txBody>
          <a:bodyPr>
            <a:noAutofit/>
          </a:bodyPr>
          <a:lstStyle/>
          <a:p>
            <a:r>
              <a:rPr lang="en-US" sz="2400" dirty="0"/>
              <a:t>CNNs excel at capturing local features but struggle with global dependencies unless explicitly designed (e.g., using global pooling). </a:t>
            </a:r>
          </a:p>
          <a:p>
            <a:r>
              <a:rPr lang="en-US" sz="2400" dirty="0" err="1"/>
              <a:t>ViTs</a:t>
            </a:r>
            <a:r>
              <a:rPr lang="en-US" sz="2400" dirty="0"/>
              <a:t>, on the other hand, leverage self-attention mechanisms to dynamically model relationships across all patches, making them more suitable for tasks requiring holistic understanding of images. </a:t>
            </a:r>
          </a:p>
          <a:p>
            <a:r>
              <a:rPr lang="en-US" sz="2400" dirty="0" err="1"/>
              <a:t>ViTs</a:t>
            </a:r>
            <a:r>
              <a:rPr lang="en-US" sz="2400" dirty="0"/>
              <a:t> can learn how each patch interacts with others globally, while CNNs would primarily focus on localized patterns within each patch.</a:t>
            </a:r>
            <a:endParaRPr lang="en-IN" sz="2400" dirty="0"/>
          </a:p>
        </p:txBody>
      </p:sp>
    </p:spTree>
    <p:extLst>
      <p:ext uri="{BB962C8B-B14F-4D97-AF65-F5344CB8AC3E}">
        <p14:creationId xmlns:p14="http://schemas.microsoft.com/office/powerpoint/2010/main" val="4144611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rgbClr val="002060"/>
                </a:solidFill>
              </a:rPr>
              <a:t>Detection Transformer (DETR) </a:t>
            </a:r>
            <a:endParaRPr lang="en-IN" dirty="0">
              <a:solidFill>
                <a:srgbClr val="002060"/>
              </a:solidFill>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16200000">
            <a:off x="2519773" y="728698"/>
            <a:ext cx="4176463" cy="6984777"/>
          </a:xfrm>
        </p:spPr>
      </p:pic>
    </p:spTree>
    <p:extLst>
      <p:ext uri="{BB962C8B-B14F-4D97-AF65-F5344CB8AC3E}">
        <p14:creationId xmlns:p14="http://schemas.microsoft.com/office/powerpoint/2010/main" val="1995252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rot="16200000">
            <a:off x="2411636" y="836836"/>
            <a:ext cx="4176712" cy="6912768"/>
          </a:xfrm>
        </p:spPr>
      </p:pic>
    </p:spTree>
    <p:extLst>
      <p:ext uri="{BB962C8B-B14F-4D97-AF65-F5344CB8AC3E}">
        <p14:creationId xmlns:p14="http://schemas.microsoft.com/office/powerpoint/2010/main" val="95383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1629453"/>
            <a:ext cx="8229600" cy="458115"/>
          </a:xfrm>
        </p:spPr>
        <p:txBody>
          <a:bodyPr>
            <a:noAutofit/>
          </a:bodyPr>
          <a:lstStyle/>
          <a:p>
            <a:r>
              <a:rPr lang="en-US" sz="2400" b="1" dirty="0">
                <a:solidFill>
                  <a:srgbClr val="002060"/>
                </a:solidFill>
              </a:rPr>
              <a:t/>
            </a:r>
            <a:br>
              <a:rPr lang="en-US" sz="2400" b="1" dirty="0">
                <a:solidFill>
                  <a:srgbClr val="002060"/>
                </a:solidFill>
              </a:rPr>
            </a:br>
            <a:r>
              <a:rPr lang="en-US" sz="2400" b="1" dirty="0">
                <a:solidFill>
                  <a:srgbClr val="002060"/>
                </a:solidFill>
              </a:rPr>
              <a:t>Segment Anything Model (SAM): Architecture &amp; Data Flow</a:t>
            </a:r>
            <a:br>
              <a:rPr lang="en-US" sz="2400" b="1" dirty="0">
                <a:solidFill>
                  <a:srgbClr val="002060"/>
                </a:solidFill>
              </a:rPr>
            </a:br>
            <a:endParaRPr lang="en-IN" sz="2400" dirty="0">
              <a:solidFill>
                <a:srgbClr val="002060"/>
              </a:solidFill>
            </a:endParaRPr>
          </a:p>
        </p:txBody>
      </p:sp>
      <p:sp>
        <p:nvSpPr>
          <p:cNvPr id="3" name="Content Placeholder 2"/>
          <p:cNvSpPr>
            <a:spLocks noGrp="1"/>
          </p:cNvSpPr>
          <p:nvPr>
            <p:ph idx="1"/>
          </p:nvPr>
        </p:nvSpPr>
        <p:spPr/>
        <p:txBody>
          <a:bodyPr>
            <a:normAutofit fontScale="70000" lnSpcReduction="20000"/>
          </a:bodyPr>
          <a:lstStyle/>
          <a:p>
            <a:r>
              <a:rPr lang="en-US" sz="2100" b="1" dirty="0"/>
              <a:t>Purpose:</a:t>
            </a:r>
            <a:r>
              <a:rPr lang="en-US" sz="2100" dirty="0"/>
              <a:t/>
            </a:r>
            <a:br>
              <a:rPr lang="en-US" sz="2100" dirty="0"/>
            </a:br>
            <a:r>
              <a:rPr lang="en-US" sz="2100" dirty="0" err="1"/>
              <a:t>Promptable</a:t>
            </a:r>
            <a:r>
              <a:rPr lang="en-US" sz="2100" dirty="0"/>
              <a:t>, real-time segmentation for any object, using points, boxes, masks, or text as prompts.</a:t>
            </a:r>
          </a:p>
          <a:p>
            <a:r>
              <a:rPr lang="en-IN" sz="2300" b="1" dirty="0"/>
              <a:t>Core Components</a:t>
            </a:r>
          </a:p>
          <a:p>
            <a:r>
              <a:rPr lang="en-IN" sz="2300" b="1" dirty="0"/>
              <a:t>Image Encoder:</a:t>
            </a:r>
            <a:endParaRPr lang="en-IN" sz="2300" dirty="0"/>
          </a:p>
          <a:p>
            <a:pPr lvl="1"/>
            <a:r>
              <a:rPr lang="en-IN" sz="2300" i="1" dirty="0"/>
              <a:t>Type:</a:t>
            </a:r>
            <a:r>
              <a:rPr lang="en-IN" sz="2300" dirty="0"/>
              <a:t> Vision Transformer (</a:t>
            </a:r>
            <a:r>
              <a:rPr lang="en-IN" sz="2300" dirty="0" err="1"/>
              <a:t>ViT</a:t>
            </a:r>
            <a:r>
              <a:rPr lang="en-IN" sz="2300" dirty="0"/>
              <a:t>)</a:t>
            </a:r>
          </a:p>
          <a:p>
            <a:pPr lvl="1"/>
            <a:r>
              <a:rPr lang="en-IN" sz="2300" i="1" dirty="0"/>
              <a:t>Input:</a:t>
            </a:r>
            <a:r>
              <a:rPr lang="en-IN" sz="2300" dirty="0"/>
              <a:t> Image (e.g., 1024×1024×3)</a:t>
            </a:r>
          </a:p>
          <a:p>
            <a:pPr lvl="1"/>
            <a:r>
              <a:rPr lang="en-IN" sz="2300" i="1" dirty="0"/>
              <a:t>Output:</a:t>
            </a:r>
            <a:r>
              <a:rPr lang="en-IN" sz="2300" dirty="0"/>
              <a:t> Dense feature map (e.g., 256 channels × 64 × 64 spatial grid)</a:t>
            </a:r>
          </a:p>
          <a:p>
            <a:r>
              <a:rPr lang="en-IN" sz="2300" b="1" dirty="0"/>
              <a:t>Prompt Encoder:</a:t>
            </a:r>
            <a:endParaRPr lang="en-IN" sz="2300" dirty="0"/>
          </a:p>
          <a:p>
            <a:pPr lvl="1"/>
            <a:r>
              <a:rPr lang="en-IN" sz="2300" i="1" dirty="0"/>
              <a:t>Input:</a:t>
            </a:r>
            <a:r>
              <a:rPr lang="en-IN" sz="2300" dirty="0"/>
              <a:t> User prompt (points, boxes, masks, or text)</a:t>
            </a:r>
          </a:p>
          <a:p>
            <a:pPr lvl="1"/>
            <a:r>
              <a:rPr lang="en-IN" sz="2300" i="1" dirty="0"/>
              <a:t>Sparse prompts (points/boxes):</a:t>
            </a:r>
            <a:r>
              <a:rPr lang="en-IN" sz="2300" dirty="0"/>
              <a:t> Encoded with positional embeddings + learned prompt type embeddings</a:t>
            </a:r>
          </a:p>
          <a:p>
            <a:pPr lvl="1"/>
            <a:r>
              <a:rPr lang="en-IN" sz="2300" i="1" dirty="0"/>
              <a:t>Dense prompts (masks):</a:t>
            </a:r>
            <a:r>
              <a:rPr lang="en-IN" sz="2300" dirty="0"/>
              <a:t> Embedded via convolutions, summed with image embedding</a:t>
            </a:r>
          </a:p>
          <a:p>
            <a:pPr lvl="1"/>
            <a:r>
              <a:rPr lang="en-IN" sz="2300" i="1" dirty="0"/>
              <a:t>Text prompts:</a:t>
            </a:r>
            <a:r>
              <a:rPr lang="en-IN" sz="2300" dirty="0"/>
              <a:t> Encoded using a pre-trained text encoder (like BERT/CLIP)</a:t>
            </a:r>
          </a:p>
          <a:p>
            <a:pPr lvl="1"/>
            <a:r>
              <a:rPr lang="en-IN" sz="2300" i="1" dirty="0"/>
              <a:t>Output:</a:t>
            </a:r>
            <a:r>
              <a:rPr lang="en-IN" sz="2300" dirty="0"/>
              <a:t> Prompt embedding(s) (e.g., 256-dim vector per prompt)</a:t>
            </a:r>
          </a:p>
          <a:p>
            <a:endParaRPr lang="en-IN" sz="1600" dirty="0"/>
          </a:p>
        </p:txBody>
      </p:sp>
    </p:spTree>
    <p:extLst>
      <p:ext uri="{BB962C8B-B14F-4D97-AF65-F5344CB8AC3E}">
        <p14:creationId xmlns:p14="http://schemas.microsoft.com/office/powerpoint/2010/main" val="4101409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err="1">
                <a:solidFill>
                  <a:srgbClr val="002060"/>
                </a:solidFill>
              </a:rPr>
              <a:t>Contd</a:t>
            </a:r>
            <a:r>
              <a:rPr lang="en-US" dirty="0">
                <a:solidFill>
                  <a:srgbClr val="002060"/>
                </a:solidFill>
              </a:rPr>
              <a:t>…</a:t>
            </a:r>
            <a:endParaRPr lang="en-IN" dirty="0">
              <a:solidFill>
                <a:srgbClr val="002060"/>
              </a:solidFill>
            </a:endParaRPr>
          </a:p>
        </p:txBody>
      </p:sp>
      <p:sp>
        <p:nvSpPr>
          <p:cNvPr id="5" name="Content Placeholder 4"/>
          <p:cNvSpPr>
            <a:spLocks noGrp="1"/>
          </p:cNvSpPr>
          <p:nvPr>
            <p:ph idx="1"/>
          </p:nvPr>
        </p:nvSpPr>
        <p:spPr/>
        <p:txBody>
          <a:bodyPr>
            <a:normAutofit/>
          </a:bodyPr>
          <a:lstStyle/>
          <a:p>
            <a:pPr marL="0" lvl="0" indent="0" eaLnBrk="0" fontAlgn="base" hangingPunct="0">
              <a:spcBef>
                <a:spcPct val="0"/>
              </a:spcBef>
              <a:spcAft>
                <a:spcPct val="0"/>
              </a:spcAft>
              <a:buFontTx/>
              <a:buChar char="•"/>
            </a:pPr>
            <a:r>
              <a:rPr lang="en-US" sz="1600" b="1" dirty="0">
                <a:latin typeface="+mj-lt"/>
              </a:rPr>
              <a:t>Mask Decoder:</a:t>
            </a:r>
            <a:endParaRPr lang="en-US" sz="1600" dirty="0">
              <a:latin typeface="+mj-lt"/>
            </a:endParaRPr>
          </a:p>
          <a:p>
            <a:pPr marL="0" lvl="0" indent="0" eaLnBrk="0" fontAlgn="base" hangingPunct="0">
              <a:spcBef>
                <a:spcPct val="0"/>
              </a:spcBef>
              <a:spcAft>
                <a:spcPct val="0"/>
              </a:spcAft>
              <a:buFontTx/>
              <a:buChar char="•"/>
            </a:pPr>
            <a:r>
              <a:rPr lang="en-US" sz="1600" i="1" dirty="0">
                <a:latin typeface="+mj-lt"/>
              </a:rPr>
              <a:t>Input:</a:t>
            </a:r>
            <a:r>
              <a:rPr lang="en-US" sz="1600" dirty="0">
                <a:latin typeface="+mj-lt"/>
              </a:rPr>
              <a:t> Image features + prompt embeddings</a:t>
            </a:r>
          </a:p>
          <a:p>
            <a:pPr marL="0" lvl="0" indent="0" eaLnBrk="0" fontAlgn="base" hangingPunct="0">
              <a:spcBef>
                <a:spcPct val="0"/>
              </a:spcBef>
              <a:spcAft>
                <a:spcPct val="0"/>
              </a:spcAft>
              <a:buFontTx/>
              <a:buChar char="•"/>
            </a:pPr>
            <a:r>
              <a:rPr lang="en-US" sz="1600" i="1" dirty="0">
                <a:latin typeface="+mj-lt"/>
              </a:rPr>
              <a:t>Process:</a:t>
            </a:r>
            <a:r>
              <a:rPr lang="en-US" sz="1600" dirty="0">
                <a:latin typeface="+mj-lt"/>
              </a:rPr>
              <a:t> Modified transformer decoder block with prompt self-attention and cross-attention (prompt-to-image and image-to-prompt)</a:t>
            </a:r>
          </a:p>
          <a:p>
            <a:pPr marL="0" lvl="0" indent="0" eaLnBrk="0" fontAlgn="base" hangingPunct="0">
              <a:spcBef>
                <a:spcPct val="0"/>
              </a:spcBef>
              <a:spcAft>
                <a:spcPct val="0"/>
              </a:spcAft>
              <a:buFontTx/>
              <a:buChar char="•"/>
            </a:pPr>
            <a:r>
              <a:rPr lang="en-US" sz="1600" i="1" dirty="0">
                <a:latin typeface="+mj-lt"/>
              </a:rPr>
              <a:t>Output:</a:t>
            </a:r>
            <a:r>
              <a:rPr lang="en-US" sz="1600" dirty="0">
                <a:latin typeface="+mj-lt"/>
              </a:rPr>
              <a:t> Segmentation mask(s) (e.g., 256×64×64 → </a:t>
            </a:r>
            <a:r>
              <a:rPr lang="en-US" sz="1600" dirty="0" err="1">
                <a:latin typeface="+mj-lt"/>
              </a:rPr>
              <a:t>upsampled</a:t>
            </a:r>
            <a:r>
              <a:rPr lang="en-US" sz="1600" dirty="0">
                <a:latin typeface="+mj-lt"/>
              </a:rPr>
              <a:t> to input image size)</a:t>
            </a:r>
          </a:p>
          <a:p>
            <a:pPr marL="0" lvl="0" indent="0" eaLnBrk="0" fontAlgn="base" hangingPunct="0">
              <a:spcBef>
                <a:spcPct val="0"/>
              </a:spcBef>
              <a:spcAft>
                <a:spcPct val="0"/>
              </a:spcAft>
              <a:buNone/>
            </a:pPr>
            <a:endParaRPr lang="en-US" sz="1600" dirty="0">
              <a:latin typeface="+mj-lt"/>
            </a:endParaRPr>
          </a:p>
          <a:p>
            <a:pPr marL="0" indent="0">
              <a:buNone/>
            </a:pPr>
            <a:r>
              <a:rPr lang="en-US" sz="1600" b="1" dirty="0"/>
              <a:t>Decoding Head:</a:t>
            </a:r>
            <a:r>
              <a:rPr lang="en-US" sz="1600" dirty="0"/>
              <a:t/>
            </a:r>
            <a:br>
              <a:rPr lang="en-US" sz="1600" dirty="0"/>
            </a:br>
            <a:r>
              <a:rPr lang="en-US" sz="1600" dirty="0"/>
              <a:t>SAM’s decoder is lightweight, optimized for real-time mask prediction, and designed for fusing prompt and image features for segmentation</a:t>
            </a:r>
            <a:endParaRPr lang="en-IN" sz="1600" dirty="0">
              <a:latin typeface="+mj-lt"/>
            </a:endParaRPr>
          </a:p>
        </p:txBody>
      </p:sp>
    </p:spTree>
    <p:extLst>
      <p:ext uri="{BB962C8B-B14F-4D97-AF65-F5344CB8AC3E}">
        <p14:creationId xmlns:p14="http://schemas.microsoft.com/office/powerpoint/2010/main" val="3798413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rgbClr val="002060"/>
                </a:solidFill>
              </a:rPr>
              <a:t>Vision Language Model (VLM)</a:t>
            </a:r>
            <a:endParaRPr lang="en-IN" dirty="0">
              <a:solidFill>
                <a:srgbClr val="002060"/>
              </a:solidFill>
            </a:endParaRPr>
          </a:p>
        </p:txBody>
      </p:sp>
      <p:pic>
        <p:nvPicPr>
          <p:cNvPr id="4" name="Content Placeholder 3"/>
          <p:cNvPicPr>
            <a:picLocks noGrp="1" noChangeAspect="1"/>
          </p:cNvPicPr>
          <p:nvPr>
            <p:ph idx="1"/>
          </p:nvPr>
        </p:nvPicPr>
        <p:blipFill>
          <a:blip r:embed="rId2"/>
          <a:stretch>
            <a:fillRect/>
          </a:stretch>
        </p:blipFill>
        <p:spPr>
          <a:xfrm>
            <a:off x="2051720" y="2204864"/>
            <a:ext cx="5785074" cy="4448869"/>
          </a:xfrm>
          <a:prstGeom prst="rect">
            <a:avLst/>
          </a:prstGeom>
        </p:spPr>
      </p:pic>
    </p:spTree>
    <p:extLst>
      <p:ext uri="{BB962C8B-B14F-4D97-AF65-F5344CB8AC3E}">
        <p14:creationId xmlns:p14="http://schemas.microsoft.com/office/powerpoint/2010/main" val="3873301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784F4AEC-8D82-CFD4-D259-DD76FC16204D}"/>
              </a:ext>
            </a:extLst>
          </p:cNvPr>
          <p:cNvSpPr>
            <a:spLocks noGrp="1"/>
          </p:cNvSpPr>
          <p:nvPr>
            <p:ph type="title"/>
          </p:nvPr>
        </p:nvSpPr>
        <p:spPr/>
        <p:txBody>
          <a:bodyPr>
            <a:normAutofit fontScale="90000"/>
          </a:bodyPr>
          <a:lstStyle/>
          <a:p>
            <a:pPr algn="ctr"/>
            <a:r>
              <a:rPr lang="en-US" dirty="0">
                <a:solidFill>
                  <a:srgbClr val="002060"/>
                </a:solidFill>
              </a:rPr>
              <a:t>Summary</a:t>
            </a:r>
            <a:endParaRPr lang="en-IN" dirty="0">
              <a:solidFill>
                <a:srgbClr val="002060"/>
              </a:solidFill>
            </a:endParaRPr>
          </a:p>
        </p:txBody>
      </p:sp>
      <p:sp>
        <p:nvSpPr>
          <p:cNvPr id="5" name="Content Placeholder 4">
            <a:extLst>
              <a:ext uri="{FF2B5EF4-FFF2-40B4-BE49-F238E27FC236}">
                <a16:creationId xmlns="" xmlns:a16="http://schemas.microsoft.com/office/drawing/2014/main" id="{7C945479-C0BD-435A-CB4F-BB6927A21671}"/>
              </a:ext>
            </a:extLst>
          </p:cNvPr>
          <p:cNvSpPr>
            <a:spLocks noGrp="1"/>
          </p:cNvSpPr>
          <p:nvPr>
            <p:ph idx="1"/>
          </p:nvPr>
        </p:nvSpPr>
        <p:spPr/>
        <p:txBody>
          <a:bodyPr/>
          <a:lstStyle/>
          <a:p>
            <a:pPr algn="just"/>
            <a:r>
              <a:rPr lang="en-US" dirty="0"/>
              <a:t>Vision Transformer Models is becoming the state-of-the-art in Computer Vision applications, not only in healthcare, but also in rest other fields from Machine Vision in Industry Quality Control to Agriculture &amp; Food Technology Industry because of its powerful Text integration (Multimodal) capability.</a:t>
            </a:r>
            <a:endParaRPr lang="en-IN" dirty="0"/>
          </a:p>
        </p:txBody>
      </p:sp>
    </p:spTree>
    <p:extLst>
      <p:ext uri="{BB962C8B-B14F-4D97-AF65-F5344CB8AC3E}">
        <p14:creationId xmlns:p14="http://schemas.microsoft.com/office/powerpoint/2010/main" val="9441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dirty="0">
                <a:solidFill>
                  <a:srgbClr val="002060"/>
                </a:solidFill>
              </a:rPr>
              <a:t>Thank You</a:t>
            </a:r>
          </a:p>
        </p:txBody>
      </p:sp>
      <p:sp>
        <p:nvSpPr>
          <p:cNvPr id="3" name="Content Placeholder 2"/>
          <p:cNvSpPr>
            <a:spLocks noGrp="1"/>
          </p:cNvSpPr>
          <p:nvPr>
            <p:ph idx="1"/>
          </p:nvPr>
        </p:nvSpPr>
        <p:spPr/>
        <p:txBody>
          <a:bodyPr/>
          <a:lstStyle/>
          <a:p>
            <a:pPr algn="ctr"/>
            <a:endParaRPr lang="en-IN" dirty="0">
              <a:hlinkClick r:id="rId2"/>
            </a:endParaRPr>
          </a:p>
          <a:p>
            <a:pPr algn="ctr"/>
            <a:endParaRPr lang="en-IN" dirty="0">
              <a:hlinkClick r:id="rId2"/>
            </a:endParaRPr>
          </a:p>
          <a:p>
            <a:pPr algn="ctr"/>
            <a:r>
              <a:rPr lang="en-IN" dirty="0">
                <a:hlinkClick r:id="rId2"/>
              </a:rPr>
              <a:t>https://learnaiwithanand.com</a:t>
            </a:r>
          </a:p>
          <a:p>
            <a:pPr algn="ctr">
              <a:buNone/>
            </a:pPr>
            <a:r>
              <a:rPr lang="en-IN" dirty="0">
                <a:hlinkClick r:id="rId2"/>
              </a:rPr>
              <a:t>dranand.scs@gmail.com</a:t>
            </a:r>
            <a:endParaRPr lang="en-IN" dirty="0"/>
          </a:p>
          <a:p>
            <a:pPr algn="ct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5588</TotalTime>
  <Words>797</Words>
  <Application>Microsoft Office PowerPoint</Application>
  <PresentationFormat>On-screen Show (4:3)</PresentationFormat>
  <Paragraphs>78</Paragraphs>
  <Slides>37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Large Language Models (LLMs) &amp; Agentic AI Workflows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can an organization that leads in foundational research lose the first-mover advantage in commercializing that research and subsequently recover?</vt:lpstr>
      <vt:lpstr>Bard's launch and the James Webb mistake</vt:lpstr>
      <vt:lpstr>Bard rebranded as Gemini on Feb 2024</vt:lpstr>
      <vt:lpstr>Top five by estimated website-visit share </vt:lpstr>
      <vt:lpstr>The next five challengers to watch</vt:lpstr>
      <vt:lpstr>Smart way of using Word Embedding</vt:lpstr>
      <vt:lpstr>Positional Encoding</vt:lpstr>
      <vt:lpstr>Transformer Encoder</vt:lpstr>
      <vt:lpstr>Transformer Decoder</vt:lpstr>
      <vt:lpstr>Complete Transformer  Architecture</vt:lpstr>
      <vt:lpstr>Decoder Response in Production</vt:lpstr>
      <vt:lpstr>https://huggingface.co/spaces/exbert-project/exbert</vt:lpstr>
      <vt:lpstr>Retrieval-augmented generation (rag)</vt:lpstr>
      <vt:lpstr>PowerPoint Presentation</vt:lpstr>
      <vt:lpstr>Retrieval using Llama Index</vt:lpstr>
      <vt:lpstr>Configuring RAG with Llama-2 Model</vt:lpstr>
      <vt:lpstr>Configuring RAG with GPT-4 Model</vt:lpstr>
      <vt:lpstr>PowerPoint Presentation</vt:lpstr>
      <vt:lpstr>PowerPoint Presentation</vt:lpstr>
      <vt:lpstr>PowerPoint Presentation</vt:lpstr>
      <vt:lpstr>PowerPoint Presentation</vt:lpstr>
      <vt:lpstr>CNN Vs ViT</vt:lpstr>
      <vt:lpstr>Detection Transformer (DETR) </vt:lpstr>
      <vt:lpstr>PowerPoint Presentation</vt:lpstr>
      <vt:lpstr> Segment Anything Model (SAM): Architecture &amp; Data Flow </vt:lpstr>
      <vt:lpstr>Contd…</vt:lpstr>
      <vt:lpstr>Vision Language Model (VLM)</vt:lpstr>
      <vt:lpstr>Summary</vt:lpstr>
      <vt:lpstr>Thank You</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WIN</cp:lastModifiedBy>
  <cp:revision>208</cp:revision>
  <dcterms:created xsi:type="dcterms:W3CDTF">2013-08-21T19:17:07Z</dcterms:created>
  <dcterms:modified xsi:type="dcterms:W3CDTF">2026-10-28T05:27:12Z</dcterms:modified>
</cp:coreProperties>
</file>